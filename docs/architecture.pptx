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1C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5720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000" b="1">
                <a:solidFill>
                  <a:srgbClr val="1E345D"/>
                </a:solidFill>
                <a:latin typeface="Open Sans"/>
              </a:rPr>
              <a:t>● 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E345D"/>
                </a:solidFill>
                <a:latin typeface="Ubuntu Light"/>
              </a:rPr>
              <a:t>Nirmata </a:t>
            </a:r>
            <a:r>
              <a:rPr sz="4000" b="1">
                <a:solidFill>
                  <a:srgbClr val="16294A"/>
                </a:solidFill>
                <a:latin typeface="Ubuntu Light"/>
              </a:rPr>
              <a:t>Runtime</a:t>
            </a:r>
            <a:r>
              <a:rPr sz="4000" b="0">
                <a:solidFill>
                  <a:srgbClr val="1E345D"/>
                </a:solidFill>
                <a:latin typeface="Ubuntu Light"/>
              </a:rPr>
              <a:t> for Kyverno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19"/>
            <a:ext cx="7680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3252"/>
                </a:solidFill>
                <a:latin typeface="Open Sans"/>
              </a:rPr>
              <a:t>Kyverno-style CEL policy, enforced in the kernel. A per-node daemon attaches eBPF programs to the pods a RuntimePolicy selects, so a denied file open, exec, or network connection never completes — and a permitted one still shows up as a finding.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63240"/>
            <a:ext cx="2205532" cy="32918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000">
                <a:solidFill>
                  <a:srgbClr val="143252"/>
                </a:solidFill>
                <a:latin typeface="Open Sans"/>
              </a:rPr>
              <a:t>Status  pre-1.0 · v1alpha1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72460" y="3063240"/>
            <a:ext cx="1605686" cy="32918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000">
                <a:solidFill>
                  <a:srgbClr val="143252"/>
                </a:solidFill>
                <a:latin typeface="Open Sans"/>
              </a:rPr>
              <a:t>CRD  RuntimePolicy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7874" y="3063240"/>
            <a:ext cx="2130552" cy="32918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000">
                <a:solidFill>
                  <a:srgbClr val="143252"/>
                </a:solidFill>
                <a:latin typeface="Open Sans"/>
              </a:rPr>
              <a:t>Mechanism  eBPF · BPF-LSM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8154" y="3063240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000">
                <a:solidFill>
                  <a:srgbClr val="143252"/>
                </a:solidFill>
                <a:latin typeface="Open Sans"/>
              </a:rPr>
              <a:t>Rules  CEL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83864"/>
            <a:ext cx="1830628" cy="32918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000">
                <a:solidFill>
                  <a:srgbClr val="143252"/>
                </a:solidFill>
                <a:latin typeface="Open Sans"/>
              </a:rPr>
              <a:t>Findings  OpenReports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7556" y="3483864"/>
            <a:ext cx="1680667" cy="32918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000">
                <a:solidFill>
                  <a:srgbClr val="143252"/>
                </a:solidFill>
                <a:latin typeface="Open Sans"/>
              </a:rPr>
              <a:t>License  Apache-2.0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345D"/>
                </a:solidFill>
                <a:latin typeface="Open Sans"/>
              </a:rPr>
              <a:t>Admission checks the spec. Nothing checks the behavior.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Open Sans"/>
              </a:rPr>
              <a:t>A signed image and a validated pod spec say nothing about what the running process then does with them. A clean admission record and a compromised process produce the same audit trail.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3977639" cy="214884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46000" cy="2148840"/>
          </a:xfrm>
          <a:prstGeom prst="rect">
            <a:avLst/>
          </a:prstGeom>
          <a:solidFill>
            <a:srgbClr val="71C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3520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98D9A"/>
                </a:solidFill>
                <a:latin typeface="Open Sans"/>
              </a:rPr>
              <a:t>BEFORE THE POD STARTS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47471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>
                <a:solidFill>
                  <a:srgbClr val="71CFEB"/>
                </a:solidFill>
                <a:latin typeface="Open Sans"/>
              </a:rPr>
              <a:t>▪  </a:t>
            </a:r>
            <a:r>
              <a:rPr sz="1150">
                <a:solidFill>
                  <a:srgbClr val="5A6472"/>
                </a:solidFill>
                <a:latin typeface="Open Sans"/>
              </a:rPr>
              <a:t>Which image, which labels, which privileges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>
                <a:solidFill>
                  <a:srgbClr val="71CFEB"/>
                </a:solidFill>
                <a:latin typeface="Open Sans"/>
              </a:rPr>
              <a:t>▪  </a:t>
            </a:r>
            <a:r>
              <a:rPr sz="1150">
                <a:solidFill>
                  <a:srgbClr val="5A6472"/>
                </a:solidFill>
                <a:latin typeface="Open Sans"/>
              </a:rPr>
              <a:t>A verdict on what the workload declares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>
                <a:solidFill>
                  <a:srgbClr val="71CFEB"/>
                </a:solidFill>
                <a:latin typeface="Open Sans"/>
              </a:rPr>
              <a:t>▪  </a:t>
            </a:r>
            <a:r>
              <a:rPr sz="1150">
                <a:solidFill>
                  <a:srgbClr val="5A6472"/>
                </a:solidFill>
                <a:latin typeface="Open Sans"/>
              </a:rPr>
              <a:t>Already solved — that's Kyverno at admission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59" y="1417320"/>
            <a:ext cx="3977639" cy="214884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1417320"/>
            <a:ext cx="46000" cy="2148840"/>
          </a:xfrm>
          <a:prstGeom prst="rect">
            <a:avLst/>
          </a:prstGeom>
          <a:solidFill>
            <a:srgbClr val="71C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199" y="1600200"/>
            <a:ext cx="3520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5596"/>
                </a:solidFill>
                <a:latin typeface="Open Sans"/>
              </a:rPr>
              <a:t>AFTER THE POD STARTS — UNWATCHED UNTIL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2011680"/>
            <a:ext cx="347471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>
                <a:solidFill>
                  <a:srgbClr val="71CFEB"/>
                </a:solidFill>
                <a:latin typeface="Open Sans"/>
              </a:rPr>
              <a:t>▪  </a:t>
            </a:r>
            <a:r>
              <a:rPr sz="1150">
                <a:solidFill>
                  <a:srgbClr val="5A6472"/>
                </a:solidFill>
                <a:latin typeface="Open Sans"/>
              </a:rPr>
              <a:t>The files the process opens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>
                <a:solidFill>
                  <a:srgbClr val="71CFEB"/>
                </a:solidFill>
                <a:latin typeface="Open Sans"/>
              </a:rPr>
              <a:t>▪  </a:t>
            </a:r>
            <a:r>
              <a:rPr sz="1150">
                <a:solidFill>
                  <a:srgbClr val="5A6472"/>
                </a:solidFill>
                <a:latin typeface="Open Sans"/>
              </a:rPr>
              <a:t>The binaries it executes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>
                <a:solidFill>
                  <a:srgbClr val="71CFEB"/>
                </a:solidFill>
                <a:latin typeface="Open Sans"/>
              </a:rPr>
              <a:t>▪  </a:t>
            </a:r>
            <a:r>
              <a:rPr sz="1150">
                <a:solidFill>
                  <a:srgbClr val="5A6472"/>
                </a:solidFill>
                <a:latin typeface="Open Sans"/>
              </a:rPr>
              <a:t>The destinations and protocols it uses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>
                <a:solidFill>
                  <a:srgbClr val="71CFEB"/>
                </a:solidFill>
                <a:latin typeface="Open Sans"/>
              </a:rPr>
              <a:t>▪  </a:t>
            </a:r>
            <a:r>
              <a:rPr sz="1150">
                <a:solidFill>
                  <a:srgbClr val="5A6472"/>
                </a:solidFill>
                <a:latin typeface="Open Sans"/>
              </a:rPr>
              <a:t>The names it resolves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94760"/>
            <a:ext cx="8229600" cy="640080"/>
          </a:xfrm>
          <a:prstGeom prst="roundRect">
            <a:avLst>
              <a:gd name="adj" fmla="val 18000"/>
            </a:avLst>
          </a:prstGeom>
          <a:solidFill>
            <a:srgbClr val="1E34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250" b="1">
                <a:solidFill>
                  <a:srgbClr val="FFFFFF"/>
                </a:solidFill>
                <a:latin typeface="Open Sans"/>
              </a:rPr>
              <a:t>Nirmata Runtime is the layer that watches the right-hand column — decided in the kernel, on the pod's own cgroup, without asking the workload to cooperate.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345D"/>
                </a:solidFill>
                <a:latin typeface="Open Sans"/>
              </a:rPr>
              <a:t>How a policy becomes a kernel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Open Sans"/>
              </a:rPr>
              <a:t>One daemon per node watches RuntimePolicy and its own node's pods, compiles CEL into allow/deny sets, and programs them into eBPF maps read by hooks already attached to each pod's cgroup.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08760"/>
            <a:ext cx="123444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950" b="1">
                <a:solidFill>
                  <a:srgbClr val="1E345D"/>
                </a:solidFill>
                <a:latin typeface="Open Sans"/>
              </a:rPr>
              <a:t>RuntimePolicy</a:t>
            </a:r>
          </a:p>
          <a:p>
            <a:pPr algn="ctr"/>
            <a:r>
              <a:rPr sz="800">
                <a:solidFill>
                  <a:srgbClr val="5A6472"/>
                </a:solidFill>
                <a:latin typeface="Open Sans"/>
              </a:rPr>
              <a:t>CRD · CEL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48840"/>
            <a:ext cx="123444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950" b="1">
                <a:solidFill>
                  <a:srgbClr val="1E345D"/>
                </a:solidFill>
                <a:latin typeface="Open Sans"/>
              </a:rPr>
              <a:t>Pod</a:t>
            </a:r>
          </a:p>
          <a:p>
            <a:pPr algn="ctr"/>
            <a:r>
              <a:rPr sz="800">
                <a:solidFill>
                  <a:srgbClr val="5A6472"/>
                </a:solidFill>
                <a:latin typeface="Open Sans"/>
              </a:rPr>
              <a:t>labels · cgroup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1417320"/>
            <a:ext cx="1554480" cy="1371600"/>
          </a:xfrm>
          <a:prstGeom prst="roundRect">
            <a:avLst/>
          </a:prstGeom>
          <a:noFill/>
          <a:ln w="9525">
            <a:solidFill>
              <a:srgbClr val="898D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7088" y="1444752"/>
            <a:ext cx="1463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98D9A"/>
                </a:solidFill>
                <a:latin typeface="Open Sans"/>
              </a:rPr>
              <a:t>DAEMON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1600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950" b="1">
                <a:solidFill>
                  <a:srgbClr val="1E345D"/>
                </a:solidFill>
                <a:latin typeface="Open Sans"/>
              </a:rPr>
              <a:t>compiler</a:t>
            </a:r>
          </a:p>
          <a:p>
            <a:pPr algn="ctr"/>
            <a:r>
              <a:rPr sz="800">
                <a:solidFill>
                  <a:srgbClr val="5A6472"/>
                </a:solidFill>
                <a:latin typeface="Open Sans"/>
              </a:rPr>
              <a:t>CEL → allow/deny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21488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950" b="1">
                <a:solidFill>
                  <a:srgbClr val="1E345D"/>
                </a:solidFill>
                <a:latin typeface="Open Sans"/>
              </a:rPr>
              <a:t>controller</a:t>
            </a:r>
          </a:p>
          <a:p>
            <a:pPr algn="ctr"/>
            <a:r>
              <a:rPr sz="800">
                <a:solidFill>
                  <a:srgbClr val="5A6472"/>
                </a:solidFill>
                <a:latin typeface="Open Sans"/>
              </a:rPr>
              <a:t>informers · match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325880"/>
            <a:ext cx="1828800" cy="1691640"/>
          </a:xfrm>
          <a:prstGeom prst="roundRect">
            <a:avLst/>
          </a:prstGeom>
          <a:noFill/>
          <a:ln w="9525">
            <a:solidFill>
              <a:srgbClr val="898D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353312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898D9A"/>
                </a:solidFill>
                <a:latin typeface="Open Sans"/>
              </a:rPr>
              <a:t>EBPF ON THE POD'S CGROUP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08760"/>
            <a:ext cx="1645920" cy="384048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950" b="1">
                <a:solidFill>
                  <a:srgbClr val="1E345D"/>
                </a:solidFill>
                <a:latin typeface="Open Sans"/>
              </a:rPr>
              <a:t>file_open · bprm_check</a:t>
            </a:r>
          </a:p>
          <a:p>
            <a:pPr algn="ctr"/>
            <a:r>
              <a:rPr sz="800">
                <a:solidFill>
                  <a:srgbClr val="5A6472"/>
                </a:solidFill>
                <a:latin typeface="Open Sans"/>
              </a:rPr>
              <a:t>open + exec (LSM)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947672"/>
            <a:ext cx="1645920" cy="384048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950" b="1">
                <a:solidFill>
                  <a:srgbClr val="1E345D"/>
                </a:solidFill>
                <a:latin typeface="Open Sans"/>
              </a:rPr>
              <a:t>cgroup_skb egress</a:t>
            </a:r>
          </a:p>
          <a:p>
            <a:pPr algn="ctr"/>
            <a:r>
              <a:rPr sz="800">
                <a:solidFill>
                  <a:srgbClr val="5A6472"/>
                </a:solidFill>
                <a:latin typeface="Open Sans"/>
              </a:rPr>
              <a:t>network + protocol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2386584"/>
            <a:ext cx="1645920" cy="384048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950" b="1">
                <a:solidFill>
                  <a:srgbClr val="1E345D"/>
                </a:solidFill>
                <a:latin typeface="Open Sans"/>
              </a:rPr>
              <a:t>UDP/53 snoop</a:t>
            </a:r>
          </a:p>
          <a:p>
            <a:pPr algn="ctr"/>
            <a:r>
              <a:rPr sz="800">
                <a:solidFill>
                  <a:srgbClr val="5A6472"/>
                </a:solidFill>
                <a:latin typeface="Open Sans"/>
              </a:rPr>
              <a:t>dns (observe only)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150876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1E345D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950" b="1">
                <a:solidFill>
                  <a:srgbClr val="FFFFFF"/>
                </a:solidFill>
                <a:latin typeface="Open Sans"/>
              </a:rPr>
              <a:t>-EPERM / drop</a:t>
            </a:r>
          </a:p>
          <a:p>
            <a:pPr algn="ctr"/>
            <a:r>
              <a:rPr sz="800">
                <a:solidFill>
                  <a:srgbClr val="E9F0FA"/>
                </a:solidFill>
                <a:latin typeface="Open Sans"/>
              </a:rPr>
              <a:t>mode: enforce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233172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71C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950" b="1">
                <a:solidFill>
                  <a:srgbClr val="1E345D"/>
                </a:solidFill>
                <a:latin typeface="Open Sans"/>
              </a:rPr>
              <a:t>counted</a:t>
            </a:r>
          </a:p>
          <a:p>
            <a:pPr algn="ctr"/>
            <a:r>
              <a:rPr sz="800">
                <a:solidFill>
                  <a:srgbClr val="5A6472"/>
                </a:solidFill>
                <a:latin typeface="Open Sans"/>
              </a:rPr>
              <a:t>poll counter / ring buf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148840"/>
            <a:ext cx="1600200" cy="822960"/>
          </a:xfrm>
          <a:prstGeom prst="roundRect">
            <a:avLst/>
          </a:prstGeom>
          <a:noFill/>
          <a:ln w="9525">
            <a:solidFill>
              <a:srgbClr val="898D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2176272"/>
            <a:ext cx="1463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898D9A"/>
                </a:solidFill>
                <a:latin typeface="Open Sans"/>
              </a:rPr>
              <a:t>EVENT PLANE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23317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950" b="1">
                <a:solidFill>
                  <a:srgbClr val="1E345D"/>
                </a:solidFill>
                <a:latin typeface="Open Sans"/>
              </a:rPr>
              <a:t>collector → attribution</a:t>
            </a:r>
          </a:p>
          <a:p>
            <a:pPr algn="ctr"/>
            <a:r>
              <a:rPr sz="800">
                <a:solidFill>
                  <a:srgbClr val="5A6472"/>
                </a:solidFill>
                <a:latin typeface="Open Sans"/>
              </a:rPr>
              <a:t>→ monitor (CEL)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32461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950" b="1">
                <a:solidFill>
                  <a:srgbClr val="1E345D"/>
                </a:solidFill>
                <a:latin typeface="Open Sans"/>
              </a:rPr>
              <a:t>Report</a:t>
            </a:r>
          </a:p>
          <a:p>
            <a:pPr algn="ctr"/>
            <a:r>
              <a:rPr sz="800">
                <a:solidFill>
                  <a:srgbClr val="5A6472"/>
                </a:solidFill>
                <a:latin typeface="Open Sans"/>
              </a:rPr>
              <a:t>OpenReports, pod 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32461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950" b="1">
                <a:solidFill>
                  <a:srgbClr val="1E345D"/>
                </a:solidFill>
                <a:latin typeface="Open Sans"/>
              </a:rPr>
              <a:t>status.nodes</a:t>
            </a:r>
          </a:p>
          <a:p>
            <a:pPr algn="ctr"/>
            <a:r>
              <a:rPr sz="800">
                <a:solidFill>
                  <a:srgbClr val="5A6472"/>
                </a:solidFill>
                <a:latin typeface="Open Sans"/>
              </a:rPr>
              <a:t>Applied · TargetsValid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2120" y="37947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950" b="1">
                <a:solidFill>
                  <a:srgbClr val="1E345D"/>
                </a:solidFill>
                <a:latin typeface="Open Sans"/>
              </a:rPr>
              <a:t>/metrics</a:t>
            </a:r>
          </a:p>
          <a:p>
            <a:pPr algn="ctr"/>
            <a:r>
              <a:rPr sz="800">
                <a:solidFill>
                  <a:srgbClr val="5A6472"/>
                </a:solidFill>
                <a:latin typeface="Open Sans"/>
              </a:rPr>
              <a:t>Prometheus counters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37947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950" b="1">
                <a:solidFill>
                  <a:srgbClr val="1E345D"/>
                </a:solidFill>
                <a:latin typeface="Open Sans"/>
              </a:rPr>
              <a:t>push sink</a:t>
            </a:r>
          </a:p>
          <a:p>
            <a:pPr algn="ctr"/>
            <a:r>
              <a:rPr sz="800">
                <a:solidFill>
                  <a:srgbClr val="5A6472"/>
                </a:solidFill>
                <a:latin typeface="Open Sans"/>
              </a:rPr>
              <a:t>gRPC, optional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00200" y="1760220"/>
            <a:ext cx="274319" cy="68580"/>
          </a:xfrm>
          <a:prstGeom prst="line">
            <a:avLst/>
          </a:prstGeom>
          <a:ln w="17780">
            <a:solidFill>
              <a:srgbClr val="898D9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600200" y="2377440"/>
            <a:ext cx="274319" cy="22860"/>
          </a:xfrm>
          <a:prstGeom prst="line">
            <a:avLst/>
          </a:prstGeom>
          <a:ln w="17780">
            <a:solidFill>
              <a:srgbClr val="898D9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337560" y="2103120"/>
            <a:ext cx="274320" cy="0"/>
          </a:xfrm>
          <a:prstGeom prst="line">
            <a:avLst/>
          </a:prstGeom>
          <a:ln w="17780">
            <a:solidFill>
              <a:srgbClr val="898D9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49240" y="1737360"/>
            <a:ext cx="182880" cy="0"/>
          </a:xfrm>
          <a:prstGeom prst="line">
            <a:avLst/>
          </a:prstGeom>
          <a:ln w="22860">
            <a:solidFill>
              <a:srgbClr val="1E345D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349240" y="2560320"/>
            <a:ext cx="182880" cy="0"/>
          </a:xfrm>
          <a:prstGeom prst="line">
            <a:avLst/>
          </a:prstGeom>
          <a:ln w="22860">
            <a:solidFill>
              <a:srgbClr val="71CFE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560320"/>
            <a:ext cx="320040" cy="0"/>
          </a:xfrm>
          <a:prstGeom prst="line">
            <a:avLst/>
          </a:prstGeom>
          <a:ln w="20320">
            <a:solidFill>
              <a:srgbClr val="71CFE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217920" y="2788920"/>
            <a:ext cx="1280159" cy="457200"/>
          </a:xfrm>
          <a:prstGeom prst="line">
            <a:avLst/>
          </a:prstGeom>
          <a:ln w="17780">
            <a:solidFill>
              <a:srgbClr val="898D9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772400" y="2788920"/>
            <a:ext cx="45720" cy="457200"/>
          </a:xfrm>
          <a:prstGeom prst="line">
            <a:avLst/>
          </a:prstGeom>
          <a:ln w="17780">
            <a:solidFill>
              <a:srgbClr val="898D9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217920" y="3703320"/>
            <a:ext cx="0" cy="91440"/>
          </a:xfrm>
          <a:prstGeom prst="line">
            <a:avLst/>
          </a:prstGeom>
          <a:ln w="17780">
            <a:solidFill>
              <a:srgbClr val="898D9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72400" y="3703320"/>
            <a:ext cx="0" cy="91440"/>
          </a:xfrm>
          <a:prstGeom prst="line">
            <a:avLst/>
          </a:prstGeom>
          <a:ln w="17780">
            <a:solidFill>
              <a:srgbClr val="898D9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57200" y="4754880"/>
            <a:ext cx="201168" cy="45720"/>
          </a:xfrm>
          <a:prstGeom prst="rect">
            <a:avLst/>
          </a:prstGeom>
          <a:solidFill>
            <a:srgbClr val="1E34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70916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Open Sans"/>
              </a:rPr>
              <a:t>enforce path — kernel returns -EPERM or drops the packet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4754880"/>
            <a:ext cx="201168" cy="45720"/>
          </a:xfrm>
          <a:prstGeom prst="rect">
            <a:avLst/>
          </a:prstGeom>
          <a:solidFill>
            <a:srgbClr val="71C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02352" y="4709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Open Sans"/>
              </a:rPr>
              <a:t>observation path — counted, attributed, matched in userspace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345D"/>
                </a:solidFill>
                <a:latin typeface="Open Sans"/>
              </a:rPr>
              <a:t>Five behaviors, one policy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Open Sans"/>
              </a:rPr>
              <a:t>Each RuntimePolicy behavior sets an allow and/or deny list — literal values, a CEL expression, or both, unioned. deny.values: ["*"] flips a behavior to deny-all-except-allowed.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627632" cy="24688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46000" cy="2468880"/>
          </a:xfrm>
          <a:prstGeom prst="rect">
            <a:avLst/>
          </a:prstGeom>
          <a:solidFill>
            <a:srgbClr val="71C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719072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45D"/>
                </a:solidFill>
                <a:latin typeface="Open Sans"/>
              </a:rPr>
              <a:t>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57400"/>
            <a:ext cx="133502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File paths a process reads. Matched against a per-cgroup map at file_open.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3639312"/>
            <a:ext cx="1335024" cy="256032"/>
          </a:xfrm>
          <a:prstGeom prst="roundRect">
            <a:avLst>
              <a:gd name="adj" fmla="val 30000"/>
            </a:avLst>
          </a:prstGeom>
          <a:solidFill>
            <a:srgbClr val="E3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2E5596"/>
                </a:solidFill>
                <a:latin typeface="Open Sans"/>
              </a:rPr>
              <a:t>ENFORCE OR OBSERVE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03704" y="1554480"/>
            <a:ext cx="1627632" cy="24688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03704" y="1554480"/>
            <a:ext cx="46000" cy="2468880"/>
          </a:xfrm>
          <a:prstGeom prst="rect">
            <a:avLst/>
          </a:prstGeom>
          <a:solidFill>
            <a:srgbClr val="71C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8296" y="1719072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45D"/>
                </a:solidFill>
                <a:latin typeface="Open Sans"/>
              </a:rPr>
              <a:t>exec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8296" y="2057400"/>
            <a:ext cx="133502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Binary paths a process launches. Matched at bprm_check_security.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0008" y="3639312"/>
            <a:ext cx="1335024" cy="256032"/>
          </a:xfrm>
          <a:prstGeom prst="roundRect">
            <a:avLst>
              <a:gd name="adj" fmla="val 30000"/>
            </a:avLst>
          </a:prstGeom>
          <a:solidFill>
            <a:srgbClr val="E3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2E5596"/>
                </a:solidFill>
                <a:latin typeface="Open Sans"/>
              </a:rPr>
              <a:t>ENFORCE OR OBSERVE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50208" y="1554480"/>
            <a:ext cx="1627632" cy="24688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50208" y="1554480"/>
            <a:ext cx="46000" cy="2468880"/>
          </a:xfrm>
          <a:prstGeom prst="rect">
            <a:avLst/>
          </a:prstGeom>
          <a:solidFill>
            <a:srgbClr val="71C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719072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45D"/>
                </a:solidFill>
                <a:latin typeface="Open Sans"/>
              </a:rPr>
              <a:t>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057400"/>
            <a:ext cx="133502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IPv4 addresses, CIDRs, domains, and cluster Service names.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96512" y="3639312"/>
            <a:ext cx="1335024" cy="256032"/>
          </a:xfrm>
          <a:prstGeom prst="roundRect">
            <a:avLst>
              <a:gd name="adj" fmla="val 30000"/>
            </a:avLst>
          </a:prstGeom>
          <a:solidFill>
            <a:srgbClr val="E3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2E5596"/>
                </a:solidFill>
                <a:latin typeface="Open Sans"/>
              </a:rPr>
              <a:t>ENFORCE OR OBSERVE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96712" y="1554480"/>
            <a:ext cx="1627632" cy="24688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96712" y="1554480"/>
            <a:ext cx="46000" cy="2468880"/>
          </a:xfrm>
          <a:prstGeom prst="rect">
            <a:avLst/>
          </a:prstGeom>
          <a:solidFill>
            <a:srgbClr val="71C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61304" y="1719072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45D"/>
                </a:solidFill>
                <a:latin typeface="Open Sans"/>
              </a:rPr>
              <a:t>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1304" y="2057400"/>
            <a:ext cx="133502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The application protocol a flow speaks, from its first data segment.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43016" y="3639312"/>
            <a:ext cx="1335024" cy="256032"/>
          </a:xfrm>
          <a:prstGeom prst="roundRect">
            <a:avLst>
              <a:gd name="adj" fmla="val 30000"/>
            </a:avLst>
          </a:prstGeom>
          <a:solidFill>
            <a:srgbClr val="E3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2E5596"/>
                </a:solidFill>
                <a:latin typeface="Open Sans"/>
              </a:rPr>
              <a:t>ENFORCE OR OBSERVE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43216" y="1554480"/>
            <a:ext cx="1627632" cy="24688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43216" y="1554480"/>
            <a:ext cx="46000" cy="2468880"/>
          </a:xfrm>
          <a:prstGeom prst="rect">
            <a:avLst/>
          </a:prstGeom>
          <a:solidFill>
            <a:srgbClr val="71C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7808" y="1719072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45D"/>
                </a:solidFill>
                <a:latin typeface="Open Sans"/>
              </a:rPr>
              <a:t>dns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2057400"/>
            <a:ext cx="133502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Hostnames a workload resolves; reports names outside the declared set.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3639312"/>
            <a:ext cx="1335024" cy="256032"/>
          </a:xfrm>
          <a:prstGeom prst="roundRect">
            <a:avLst>
              <a:gd name="adj" fmla="val 30000"/>
            </a:avLst>
          </a:prstGeom>
          <a:solidFill>
            <a:srgbClr val="D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143252"/>
                </a:solidFill>
                <a:latin typeface="Open Sans"/>
              </a:rPr>
              <a:t>OBSERVE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345D"/>
                </a:solidFill>
                <a:latin typeface="Open Sans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Open Sans"/>
              </a:rPr>
              <a:t>A deliberately narrow CRD, evaluated with the CEL libraries Kyverno already ships, producing output a cluster's existing tooling already reads.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397763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27048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345D"/>
                </a:solidFill>
                <a:latin typeface="Open Sans"/>
              </a:rPr>
              <a:t>Enforce or monitor, per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37944"/>
            <a:ext cx="3611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spec.mode chooses the outcome; the same policy object either blocks a workload or reports on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59" y="1417320"/>
            <a:ext cx="397763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39" y="1527048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345D"/>
                </a:solidFill>
                <a:latin typeface="Open Sans"/>
              </a:rPr>
              <a:t>Readable findings under broad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39" y="1837944"/>
            <a:ext cx="3611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A monitorFilter CEL predicate narrows which monitor-mode observations become a finding.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397763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15768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345D"/>
                </a:solidFill>
                <a:latin typeface="Open Sans"/>
              </a:rPr>
              <a:t>Default deny with allow-lists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26664"/>
            <a:ext cx="3611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deny.values: ["*"] turns any behavior into deny-all-except-allowed, unioned across matching policies.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606040"/>
            <a:ext cx="397763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39" y="2715768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345D"/>
                </a:solidFill>
                <a:latin typeface="Open Sans"/>
              </a:rPr>
              <a:t>CEL-powered, and 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39" y="3026664"/>
            <a:ext cx="3611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Literal values, CEL expressions, spec.variables, and the Kyverno resource/http/json libraries.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94760"/>
            <a:ext cx="397763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04488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345D"/>
                </a:solidFill>
                <a:latin typeface="Open Sans"/>
              </a:rPr>
              <a:t>Kubernetes-native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15384"/>
            <a:ext cx="3611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OpenReports Report objects, sharded status.nodes conditions, and decision-aware Prometheus counters.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59" y="3794760"/>
            <a:ext cx="3977639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39" y="3904488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345D"/>
                </a:solidFill>
                <a:latin typeface="Open Sans"/>
              </a:rPr>
              <a:t>Cluster-wide, fail-safe scoping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39" y="4215384"/>
            <a:ext cx="3611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podSelector and namespaceSelector are ANDed; an enforce-mode policy must set one explicitly.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345D"/>
                </a:solidFill>
                <a:latin typeface="Open Sans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Open Sans"/>
              </a:rPr>
              <a:t>The case for a kernel-decided runtime layer, in terms an operator or a security reviewer already reasons 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3977639" cy="118872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45336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345D"/>
                </a:solidFill>
                <a:latin typeface="Open Sans"/>
              </a:rPr>
              <a:t>Block, not just alert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3611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A denied read, exec, or connection fails in the kernel. No window between detection and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59" y="1417320"/>
            <a:ext cx="3977639" cy="118872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39" y="1545336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345D"/>
                </a:solidFill>
                <a:latin typeface="Open Sans"/>
              </a:rPr>
              <a:t>Evidence, not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39" y="1874520"/>
            <a:ext cx="3611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Findings carry the attempt, the destination, and the decision, attributed to pod, container, and process.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15768"/>
            <a:ext cx="3977639" cy="118872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43784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345D"/>
                </a:solidFill>
                <a:latin typeface="Open Sans"/>
              </a:rPr>
              <a:t>Nothing to change in the 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72968"/>
            <a:ext cx="3611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No sidecar, no agent in the image, no proxy variables, no CA trust store, no CNI migration.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715768"/>
            <a:ext cx="3977639" cy="118872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39" y="2843784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345D"/>
                </a:solidFill>
                <a:latin typeface="Open Sans"/>
              </a:rPr>
              <a:t>The policy stack you already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39" y="3172968"/>
            <a:ext cx="3611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An admission-validated CRD and the same Kyverno CEL libraries; review, GitOps, and rollback stay the same.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345D"/>
                </a:solidFill>
                <a:latin typeface="Open Sans"/>
              </a:rPr>
              <a:t>Where the layers you already own go blind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Open Sans"/>
              </a:rPr>
              <a:t>Every layer above the kernel decides about traffic the workload chose to send it. A workload that never cooperates never reaches most of them.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82296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383280"/>
                <a:gridCol w="3108960"/>
              </a:tblGrid>
              <a:tr h="5410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Open Sans"/>
                        </a:rPr>
                        <a:t>Layer</a:t>
                      </a:r>
                    </a:p>
                  </a:txBody>
                  <a:tcPr anchor="ctr" marL="109728" marT="36576" marB="36576">
                    <a:solidFill>
                      <a:srgbClr val="1E34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Open Sans"/>
                        </a:rPr>
                        <a:t>Governs</a:t>
                      </a:r>
                    </a:p>
                  </a:txBody>
                  <a:tcPr anchor="ctr" marL="109728" marT="36576" marB="36576">
                    <a:solidFill>
                      <a:srgbClr val="1E34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Open Sans"/>
                        </a:rPr>
                        <a:t>Blind to</a:t>
                      </a:r>
                    </a:p>
                  </a:txBody>
                  <a:tcPr anchor="ctr" marL="109728" marT="36576" marB="36576">
                    <a:solidFill>
                      <a:srgbClr val="1E345D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345D"/>
                          </a:solidFill>
                          <a:latin typeface="Open Sans"/>
                        </a:rPr>
                        <a:t>Gateway</a:t>
                      </a:r>
                    </a:p>
                  </a:txBody>
                  <a:tcPr anchor="ctr" marL="14630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5A6472"/>
                          </a:solidFill>
                          <a:latin typeface="Open Sans"/>
                        </a:rPr>
                        <a:t>Models, tools, prompts, budgets, approvals</a:t>
                      </a:r>
                    </a:p>
                  </a:txBody>
                  <a:tcPr anchor="ctr" marL="14630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5A6472"/>
                          </a:solidFill>
                          <a:latin typeface="Open Sans"/>
                        </a:rPr>
                        <a:t>Anything not addressed to it</a:t>
                      </a:r>
                    </a:p>
                  </a:txBody>
                  <a:tcPr anchor="ctr" marL="146304" marT="45720" marB="45720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345D"/>
                          </a:solidFill>
                          <a:latin typeface="Open Sans"/>
                        </a:rPr>
                        <a:t>TLS-intercepting proxy</a:t>
                      </a:r>
                    </a:p>
                  </a:txBody>
                  <a:tcPr anchor="ctr" marL="146304" marT="45720" marB="4572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5A6472"/>
                          </a:solidFill>
                          <a:latin typeface="Open Sans"/>
                        </a:rPr>
                        <a:t>Content of any HTTPS it intercepts</a:t>
                      </a:r>
                    </a:p>
                  </a:txBody>
                  <a:tcPr anchor="ctr" marL="146304" marT="45720" marB="4572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5A6472"/>
                          </a:solidFill>
                          <a:latin typeface="Open Sans"/>
                        </a:rPr>
                        <a:t>Traffic that doesn't route through it or trust its CA</a:t>
                      </a:r>
                    </a:p>
                  </a:txBody>
                  <a:tcPr anchor="ctr" marL="146304" marT="45720" marB="45720">
                    <a:solidFill>
                      <a:srgbClr val="F3F6F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345D"/>
                          </a:solidFill>
                          <a:latin typeface="Open Sans"/>
                        </a:rPr>
                        <a:t>Admission control</a:t>
                      </a:r>
                    </a:p>
                  </a:txBody>
                  <a:tcPr anchor="ctr" marL="14630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5A6472"/>
                          </a:solidFill>
                          <a:latin typeface="Open Sans"/>
                        </a:rPr>
                        <a:t>What may be created; can inject env vars and a CA</a:t>
                      </a:r>
                    </a:p>
                  </a:txBody>
                  <a:tcPr anchor="ctr" marL="14630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5A6472"/>
                          </a:solidFill>
                          <a:latin typeface="Open Sans"/>
                        </a:rPr>
                        <a:t>Whether the process actually honors either</a:t>
                      </a:r>
                    </a:p>
                  </a:txBody>
                  <a:tcPr anchor="ctr" marL="146304" marT="45720" marB="45720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345D"/>
                          </a:solidFill>
                          <a:latin typeface="Open Sans"/>
                        </a:rPr>
                        <a:t>CNI NetworkPolicy</a:t>
                      </a:r>
                    </a:p>
                  </a:txBody>
                  <a:tcPr anchor="ctr" marL="146304" marT="45720" marB="4572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5A6472"/>
                          </a:solidFill>
                          <a:latin typeface="Open Sans"/>
                        </a:rPr>
                        <a:t>Who may reach whom, L3/L4 and FQDN</a:t>
                      </a:r>
                    </a:p>
                  </a:txBody>
                  <a:tcPr anchor="ctr" marL="146304" marT="45720" marB="45720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5A6472"/>
                          </a:solidFill>
                          <a:latin typeface="Open Sans"/>
                        </a:rPr>
                        <a:t>Attempts, process identity, its own enforcement status</a:t>
                      </a:r>
                    </a:p>
                  </a:txBody>
                  <a:tcPr anchor="ctr" marL="146304" marT="45720" marB="45720">
                    <a:solidFill>
                      <a:srgbClr val="F3F6F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345D"/>
                          </a:solidFill>
                          <a:latin typeface="Open Sans"/>
                        </a:rPr>
                        <a:t>Nirmata Runtime</a:t>
                      </a:r>
                    </a:p>
                  </a:txBody>
                  <a:tcPr anchor="ctr" marL="18288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5A6472"/>
                          </a:solidFill>
                          <a:latin typeface="Open Sans"/>
                        </a:rPr>
                        <a:t>Per-pod facts decided in the kernel: destination, protocol, file/exec enforcement, findings</a:t>
                      </a:r>
                    </a:p>
                  </a:txBody>
                  <a:tcPr anchor="ctr" marL="14630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5A6472"/>
                          </a:solidFill>
                          <a:latin typeface="Open Sans"/>
                        </a:rPr>
                        <a:t>Content — that requires the client's cooperation</a:t>
                      </a:r>
                    </a:p>
                  </a:txBody>
                  <a:tcPr anchor="ctr" marL="146304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122420"/>
            <a:ext cx="46000" cy="541020"/>
          </a:xfrm>
          <a:prstGeom prst="rect">
            <a:avLst/>
          </a:prstGeom>
          <a:solidFill>
            <a:srgbClr val="71C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345D"/>
                </a:solidFill>
                <a:latin typeface="Open Sans"/>
              </a:rPr>
              <a:t>Adoption path: monitor first, enforce second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Open Sans"/>
              </a:rPr>
              <a:t>One policy object serves both modes, so nothing learned in monitor mode has to be re-expressed to enforce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E5596"/>
                </a:solidFill>
                <a:latin typeface="Open Sa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8483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345D"/>
                </a:solidFill>
                <a:latin typeface="Open Sans"/>
              </a:rPr>
              <a:t>Install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95728"/>
            <a:ext cx="1874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helm install the DaemonSet. Egress observation and enforcement need only a cgroup v2 host with BPF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2032" y="1554480"/>
            <a:ext cx="502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E5596"/>
                </a:solidFill>
                <a:latin typeface="Open Sa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208483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345D"/>
                </a:solidFill>
                <a:latin typeface="Open Sans"/>
              </a:rPr>
              <a:t>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2395728"/>
            <a:ext cx="1874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Apply a broad monitor-mode policy with a monitorFilter and read the Reports. Every finding is something you would have blocked.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1554480"/>
            <a:ext cx="502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E5596"/>
                </a:solidFill>
                <a:latin typeface="Open Sa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08483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345D"/>
                </a:solidFill>
                <a:latin typeface="Open Sans"/>
              </a:rPr>
              <a:t>Enforce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395728"/>
            <a:ext cx="1874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Narrow podSelector to the workloads that should never do it, then flip the same policy to mode: enforce.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6" y="1554480"/>
            <a:ext cx="502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E5596"/>
                </a:solidFill>
                <a:latin typeface="Open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08483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345D"/>
                </a:solidFill>
                <a:latin typeface="Open Sans"/>
              </a:rPr>
              <a:t>Sustain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2395728"/>
            <a:ext cx="1874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Open Sans"/>
              </a:rPr>
              <a:t>Drive provider and package lists from a feed with evaluationInterval, so staying current needs no policy edit.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8000"/>
            </a:avLst>
          </a:prstGeom>
          <a:solidFill>
            <a:srgbClr val="1E34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150" b="1">
                <a:solidFill>
                  <a:srgbClr val="FFFFFF"/>
                </a:solidFill>
                <a:latin typeface="Open Sans"/>
              </a:rPr>
              <a:t>The same policy object serves both modes, so what you learn in monitor mode is exactly what you enforce.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345D"/>
                </a:solidFill>
                <a:latin typeface="Open Sans"/>
              </a:rPr>
              <a:t>What this deliberately does not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Open Sans"/>
              </a:rPr>
              <a:t>Stating the boundary is what makes the claims inside it credible.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345D"/>
                </a:solidFill>
                <a:latin typeface="Open Sans"/>
              </a:rPr>
              <a:t>Destination scoping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463040"/>
            <a:ext cx="63093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Open Sans"/>
              </a:rPr>
              <a:t>Stays with the CNI. network targets here are attribution plus static hard denies, not a replacement egress firewall.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9968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345D"/>
                </a:solidFill>
                <a:latin typeface="Open Sans"/>
              </a:rPr>
              <a:t>Semantic AI enforcement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029968"/>
            <a:ext cx="63093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Open Sans"/>
              </a:rPr>
              <a:t>Stays with the proxy. A userspace duplicate over undecryptable traffic would be strictly worse.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345D"/>
                </a:solidFill>
                <a:latin typeface="Open Sans"/>
              </a:rPr>
              <a:t>Ingress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596896"/>
            <a:ext cx="63093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Open Sans"/>
              </a:rPr>
              <a:t>Out of scope. A pod serving a model, an MCP server, or an agent card is not observed.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63824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345D"/>
                </a:solidFill>
                <a:latin typeface="Open Sans"/>
              </a:rPr>
              <a:t>Content inside TLS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163824"/>
            <a:ext cx="63093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Open Sans"/>
              </a:rPr>
              <a:t>Not knowable here. Model names, prompts, tool arguments, and HTTP paths require the client's cooperation.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94760"/>
            <a:ext cx="8229600" cy="1051560"/>
          </a:xfrm>
          <a:prstGeom prst="roundRect">
            <a:avLst>
              <a:gd name="adj" fmla="val 18000"/>
            </a:avLst>
          </a:prstGeom>
          <a:solidFill>
            <a:srgbClr val="1E34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050" b="1">
                <a:solidFill>
                  <a:srgbClr val="FFFFFF"/>
                </a:solidFill>
                <a:latin typeface="Open Sans"/>
              </a:rPr>
              <a:t>Current status: pre-1.0, API v1alpha1. File open/exec enforcement needs a kernel booted with BPF-LSM active; egress is keyed on IPv4 destinations; network, protocol, open, and exec observations are drained on a poll interval; exceptions are not yet supported.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1C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E345D"/>
                </a:solidFill>
                <a:latin typeface="Ubuntu Light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3252"/>
                </a:solidFill>
                <a:latin typeface="Open Sans"/>
              </a:rPr>
              <a:t>nirmata.io  ·  github.com/nirmata/runtime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